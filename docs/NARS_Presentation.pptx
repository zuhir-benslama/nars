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0"/>
            <a:ext cx="109728" cy="51435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64008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NARS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Addressing Reference System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 Foundations · Geometric Validation · Security Primitives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43891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 10  ·  Vue 3  ·  PostgreSQL / PostGIS  ·  MapLibre GL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2860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54864" cy="3840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14400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D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System Overview &amp; Architecture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65760" y="1472184"/>
            <a:ext cx="54864" cy="3840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472184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D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Geodetic Coordinate Model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65760" y="2029968"/>
            <a:ext cx="54864" cy="3840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029968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D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Feature Type Taxonomy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65760" y="2587752"/>
            <a:ext cx="54864" cy="3840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587752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D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Geometric Validation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65760" y="3145536"/>
            <a:ext cx="54864" cy="3840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145536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D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Snap Geometry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65760" y="3703320"/>
            <a:ext cx="54864" cy="3840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703320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D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Road Direction Algorithm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65760" y="4261104"/>
            <a:ext cx="54864" cy="3840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4261104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D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House Entrance Numbering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754880" y="914400"/>
            <a:ext cx="54864" cy="3840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914400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D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Scattered Area Computation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754880" y="1472184"/>
            <a:ext cx="54864" cy="3840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1472184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D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Point-in-Polygon (Ray Casting)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754880" y="2029968"/>
            <a:ext cx="54864" cy="3840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2029968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D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Undo Stack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754880" y="2587752"/>
            <a:ext cx="54864" cy="3840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2587752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D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Client-Side Validation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754880" y="3145536"/>
            <a:ext cx="54864" cy="3840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3145536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D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Security Primitives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4754880" y="3703320"/>
            <a:ext cx="54864" cy="3840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92040" y="3703320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D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 Rate Limiting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4754880" y="4261104"/>
            <a:ext cx="54864" cy="3840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92040" y="4261104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D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 Database Schema &amp; REST API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2011680"/>
            <a:ext cx="2743200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0" y="20116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14400" y="26060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Overview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914400" y="33832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9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· Feature Hierarchy · Technology Stack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01168"/>
            <a:ext cx="8595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Four-Layer Architecture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8412480" cy="74980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93268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Layer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2618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3 + MapLibre GL JS + Geoman  ·  Pinia stores  ·  Snap engine  ·  i18n (ar/fr/en)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453128" y="1618488"/>
            <a:ext cx="237744" cy="210312"/>
          </a:xfrm>
          <a:prstGeom prst="rect">
            <a:avLst/>
          </a:prstGeom>
          <a:solidFill>
            <a:srgbClr val="5A7FA0"/>
          </a:solidFill>
          <a:ln w="12700">
            <a:solidFill>
              <a:srgbClr val="5A7FA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828800"/>
            <a:ext cx="8412480" cy="7498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89280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Layer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222199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 10 Controllers  ·  JWT cookie auth  ·  Rate limiter  ·  CSP nonce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53128" y="2578608"/>
            <a:ext cx="237744" cy="210312"/>
          </a:xfrm>
          <a:prstGeom prst="rect">
            <a:avLst/>
          </a:prstGeom>
          <a:solidFill>
            <a:srgbClr val="5A7FA0"/>
          </a:solidFill>
          <a:ln w="12700">
            <a:solidFill>
              <a:srgbClr val="5A7FA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788920"/>
            <a:ext cx="8412480" cy="7498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85292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Layer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318211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JwtService  ·  ScatteredAreaService  ·  BackgroundTaskQueue  ·  FeatureTypeRegistry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453128" y="3538728"/>
            <a:ext cx="237744" cy="210312"/>
          </a:xfrm>
          <a:prstGeom prst="rect">
            <a:avLst/>
          </a:prstGeom>
          <a:solidFill>
            <a:srgbClr val="5A7FA0"/>
          </a:solidFill>
          <a:ln w="12700">
            <a:solidFill>
              <a:srgbClr val="5A7FA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3749040"/>
            <a:ext cx="8412480" cy="7498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81304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414223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15 + PostGIS 3  ·  8 feature tables  ·  users  ·  refresh_tokens  ·  communes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01168"/>
            <a:ext cx="8595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Dependency Hierarchy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474720" y="822960"/>
            <a:ext cx="2194560" cy="68580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0" y="85953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Areas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474720" y="120700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area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57200" y="1874520"/>
            <a:ext cx="2194560" cy="6858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91109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25856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district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474720" y="1874520"/>
            <a:ext cx="2194560" cy="6858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0" y="191109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Centres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74720" y="225856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city_center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492240" y="1874520"/>
            <a:ext cx="2194560" cy="6858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191109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92240" y="225856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road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3063240"/>
            <a:ext cx="2194560" cy="685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09981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Scattered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344728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auto-computed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492240" y="3063240"/>
            <a:ext cx="2194560" cy="6858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0" y="309981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Entrances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92240" y="344728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house_entrance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474720" y="3977640"/>
            <a:ext cx="2194560" cy="6858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0" y="401421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Buildings / Spaces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474720" y="436168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public_building · public_space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72000" y="1508760"/>
            <a:ext cx="9144" cy="365760"/>
          </a:xfrm>
          <a:prstGeom prst="line">
            <a:avLst/>
          </a:prstGeom>
          <a:noFill/>
          <a:ln w="15240">
            <a:solidFill>
              <a:srgbClr val="5A7FA0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1554480" y="1508760"/>
            <a:ext cx="3017520" cy="365760"/>
          </a:xfrm>
          <a:prstGeom prst="line">
            <a:avLst/>
          </a:prstGeom>
          <a:noFill/>
          <a:ln w="15240">
            <a:solidFill>
              <a:srgbClr val="5A7FA0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4572000" y="1508760"/>
            <a:ext cx="3017520" cy="365760"/>
          </a:xfrm>
          <a:prstGeom prst="line">
            <a:avLst/>
          </a:prstGeom>
          <a:noFill/>
          <a:ln w="15240">
            <a:solidFill>
              <a:srgbClr val="5A7FA0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1554480" y="2560320"/>
            <a:ext cx="9144" cy="502920"/>
          </a:xfrm>
          <a:prstGeom prst="line">
            <a:avLst/>
          </a:prstGeom>
          <a:noFill/>
          <a:ln w="15240">
            <a:solidFill>
              <a:srgbClr val="5A7FA0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7589520" y="2560320"/>
            <a:ext cx="9144" cy="502920"/>
          </a:xfrm>
          <a:prstGeom prst="line">
            <a:avLst/>
          </a:prstGeom>
          <a:noFill/>
          <a:ln w="15240">
            <a:solidFill>
              <a:srgbClr val="5A7FA0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4572000" y="2560320"/>
            <a:ext cx="9144" cy="1417320"/>
          </a:xfrm>
          <a:prstGeom prst="line">
            <a:avLst/>
          </a:prstGeom>
          <a:noFill/>
          <a:ln w="15240">
            <a:solidFill>
              <a:srgbClr val="5A7FA0"/>
            </a:solidFill>
            <a:prstDash val="dash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2011680"/>
            <a:ext cx="2743200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0" y="20116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14400" y="26060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Geodetic Coordinate Model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914400" y="3401568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WGS84 · Haversine · Spherical Direct Problem · Circle Approximation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01168"/>
            <a:ext cx="8595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Haversine Distance Formula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914400" y="868680"/>
            <a:ext cx="7315200" cy="685800"/>
          </a:xfrm>
          <a:prstGeom prst="rect">
            <a:avLst/>
          </a:prstGeom>
          <a:solidFill>
            <a:srgbClr val="E8F4FD"/>
          </a:solidFill>
          <a:ln w="9525">
            <a:solidFill>
              <a:srgbClr val="90E0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868680"/>
            <a:ext cx="7132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d(p₁, p₂)  =  2R · arctan( √a / √(1−a) 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914400" y="1691640"/>
            <a:ext cx="7315200" cy="594360"/>
          </a:xfrm>
          <a:prstGeom prst="rect">
            <a:avLst/>
          </a:prstGeom>
          <a:solidFill>
            <a:srgbClr val="E8F4FD"/>
          </a:solidFill>
          <a:ln w="9525">
            <a:solidFill>
              <a:srgbClr val="90E0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691640"/>
            <a:ext cx="7132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 =  sin²(Δφ/2)  +  cos φ₁ · cos φ₂ · sin²(Δλ/2)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450592"/>
            <a:ext cx="822960" cy="3840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450592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Δφ, Δλ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417320" y="2450592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D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Latitude / longitude difference (radians)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2953512"/>
            <a:ext cx="822960" cy="3840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953512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417320" y="2953512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D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Earth radius  =  6,371,000 m  (GEOMETRY_CONFIG.earthRadiusMeters)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3456432"/>
            <a:ext cx="822960" cy="3840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456432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φ₁, φ₂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17320" y="3456432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D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Latitudes of points p₁ and p₂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57200" y="3959352"/>
            <a:ext cx="822960" cy="3840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959352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417320" y="3959352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D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Great-circle distance in metres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65760" y="450799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for: road length, road connectivity check, circle radius recomputation, scattered area, house numbering arc-length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01168"/>
            <a:ext cx="8595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 Ring: Spherical Direct Problem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centres are rendered as n-sided polygon rings. Each vertex is computed from the exact spherical direct problem: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325880"/>
            <a:ext cx="7680960" cy="621792"/>
          </a:xfrm>
          <a:prstGeom prst="rect">
            <a:avLst/>
          </a:prstGeom>
          <a:solidFill>
            <a:srgbClr val="E8F4FD"/>
          </a:solidFill>
          <a:ln w="9525">
            <a:solidFill>
              <a:srgbClr val="90E0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325880"/>
            <a:ext cx="7498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φₖ  =  arcsin( sin φc · cos α  +  cos φc · sin α · cos βₖ 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31520" y="2048256"/>
            <a:ext cx="7680960" cy="621792"/>
          </a:xfrm>
          <a:prstGeom prst="rect">
            <a:avLst/>
          </a:prstGeom>
          <a:solidFill>
            <a:srgbClr val="E8F4FD"/>
          </a:solidFill>
          <a:ln w="9525">
            <a:solidFill>
              <a:srgbClr val="90E0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048256"/>
            <a:ext cx="7498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λₖ  =  λc  +  arctan2( sin βₖ · sin α · cos φc,  cos α − sin φc · sin φₖ 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2816352"/>
            <a:ext cx="1371600" cy="38404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81635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α = r/R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965960" y="2816352"/>
            <a:ext cx="6858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D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distance (radius / Earth radius)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3319272"/>
            <a:ext cx="1371600" cy="38404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31927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βₖ = 2πk/n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965960" y="3319272"/>
            <a:ext cx="6858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D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Bearing to k-th vertex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7200" y="3822192"/>
            <a:ext cx="1371600" cy="38404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82219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= 64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965960" y="3822192"/>
            <a:ext cx="6858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D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Segments for rendering  (n = 16 for edit mode)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445312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The naïve cosine-scale approximation is NOT used — the exact formula is valid at all latitudes.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2011680"/>
            <a:ext cx="2743200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0" y="20116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14400" y="26060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Validation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914400" y="3401568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· District · Coverage · Urban Existence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01168"/>
            <a:ext cx="8595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Validation: Two Predicates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4023360" cy="1920240"/>
          </a:xfrm>
          <a:prstGeom prst="rect">
            <a:avLst/>
          </a:prstGeom>
          <a:solidFill>
            <a:srgbClr val="EBF8FF"/>
          </a:solidFill>
          <a:ln w="6350">
            <a:solidFill>
              <a:srgbClr val="90E0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04672"/>
            <a:ext cx="4023360" cy="41148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04672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Angular Deviation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29844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trio of consecutive vertices A, B, C: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1664208"/>
            <a:ext cx="3749040" cy="512064"/>
          </a:xfrm>
          <a:prstGeom prst="rect">
            <a:avLst/>
          </a:prstGeom>
          <a:solidFill>
            <a:srgbClr val="E8F4FD"/>
          </a:solidFill>
          <a:ln w="9525">
            <a:solidFill>
              <a:srgbClr val="90E0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664208"/>
            <a:ext cx="3566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θᵢ = arccos( u·v / (|u||v|) )  ≤  90°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02920" y="2231136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Vectors u, v: planar direction vectors in (λ, φ) space.</a:t>
            </a:r>
            <a:endParaRPr lang="en-US" sz="1050" dirty="0"/>
          </a:p>
          <a:p>
            <a:pPr indent="0" marL="0">
              <a:buNone/>
            </a:pPr>
            <a:r>
              <a:rPr lang="en-US" sz="1050" i="1" dirty="0">
                <a:solidFill>
                  <a:srgbClr val="5A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Angle clamped to [−1, 1] before arccos.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54880" y="804672"/>
            <a:ext cx="4023360" cy="1920240"/>
          </a:xfrm>
          <a:prstGeom prst="rect">
            <a:avLst/>
          </a:prstGeom>
          <a:solidFill>
            <a:srgbClr val="EBF8FF"/>
          </a:solidFill>
          <a:ln w="6350">
            <a:solidFill>
              <a:srgbClr val="90E0E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0" y="804672"/>
            <a:ext cx="4023360" cy="4114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804672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Network Connectivity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92040" y="129844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road R_new must connect to existing network N: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92040" y="1664208"/>
            <a:ext cx="3749040" cy="512064"/>
          </a:xfrm>
          <a:prstGeom prst="rect">
            <a:avLst/>
          </a:prstGeom>
          <a:solidFill>
            <a:srgbClr val="E8F4FD"/>
          </a:solidFill>
          <a:ln w="9525">
            <a:solidFill>
              <a:srgbClr val="90E0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83480" y="1664208"/>
            <a:ext cx="3566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∃ R ∈ N : d_geo(R_new, R)  ≤  δ_road = 20 m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92040" y="2231136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Exemption: first road ever drawn (N = ∅).</a:t>
            </a:r>
            <a:endParaRPr lang="en-US" sz="1050" dirty="0"/>
          </a:p>
          <a:p>
            <a:pPr indent="0" marL="0">
              <a:buNone/>
            </a:pPr>
            <a:r>
              <a:rPr lang="en-US" sz="1050" i="1" dirty="0">
                <a:solidFill>
                  <a:srgbClr val="5A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PostGIS ST_DWithin on geography (WGS84 ellipsoid).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65760" y="2926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client-side check: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3273552"/>
            <a:ext cx="4114800" cy="457200"/>
          </a:xfrm>
          <a:prstGeom prst="rect">
            <a:avLst/>
          </a:prstGeom>
          <a:solidFill>
            <a:srgbClr val="E8F4FD"/>
          </a:solidFill>
          <a:ln w="9525">
            <a:solidFill>
              <a:srgbClr val="90E0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273552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ℓ_road  =  Σ d_geo(pᵢ, pᵢ₊₁)  ≥  L_min = 10 m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754880" y="2926080"/>
            <a:ext cx="402336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299923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coords / request: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406640" y="2999232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892040" y="341071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payload size: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406640" y="3410712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 KiB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65760" y="4462272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 / ±∞ coordinates are rejected before any PostGIS query is executed.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01168"/>
            <a:ext cx="8595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 Validation: Three Conditions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41248"/>
            <a:ext cx="8412480" cy="1143000"/>
          </a:xfrm>
          <a:prstGeom prst="rect">
            <a:avLst/>
          </a:prstGeom>
          <a:solidFill>
            <a:srgbClr val="F4FBFF"/>
          </a:solidFill>
          <a:ln w="6350">
            <a:solidFill>
              <a:srgbClr val="D1E9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41248"/>
            <a:ext cx="274320" cy="11430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886968"/>
            <a:ext cx="7863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Non-Overlap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1252728"/>
            <a:ext cx="7863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D4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∀ D ∈ 𝒟 : ¬ ST_Intersects(D_new, D)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1609344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ST_Intersects catches containment; ST_Overlaps does NOT.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2167128"/>
            <a:ext cx="8412480" cy="1143000"/>
          </a:xfrm>
          <a:prstGeom prst="rect">
            <a:avLst/>
          </a:prstGeom>
          <a:solidFill>
            <a:srgbClr val="F4FBFF"/>
          </a:solidFill>
          <a:ln w="6350">
            <a:solidFill>
              <a:srgbClr val="D1E9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2167128"/>
            <a:ext cx="274320" cy="11430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212848"/>
            <a:ext cx="7863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Boundary Adjacency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2578608"/>
            <a:ext cx="7863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D4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∃ D ∈ 𝒟 : ST_Touches(D_new,D)  ∨  ST_Intersects(∂D_new, ∂D)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7240" y="2935224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Exemption: first district in a given urban area. Zones industry/trad exempt.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493008"/>
            <a:ext cx="8412480" cy="1143000"/>
          </a:xfrm>
          <a:prstGeom prst="rect">
            <a:avLst/>
          </a:prstGeom>
          <a:solidFill>
            <a:srgbClr val="F4FBFF"/>
          </a:solidFill>
          <a:ln w="6350">
            <a:solidFill>
              <a:srgbClr val="D1E9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3493008"/>
            <a:ext cx="274320" cy="1143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3538728"/>
            <a:ext cx="7863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Coverage (10 m tolerance)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77240" y="3904488"/>
            <a:ext cx="7863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D4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ST_Covers( ST_Buffer(D̂, 10 m), U )  =  TRUE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7240" y="4261104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 = union of urban areas; D̂ = union of all districts.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01168"/>
            <a:ext cx="8595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 Geometry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 thresholds are in pixel space (constant physical feel at all zoom levels):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8412480" cy="43891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34440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 Type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017520" y="1234440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(px)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212080" y="1234440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geometry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673352"/>
            <a:ext cx="84124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1E9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673352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 snap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017520" y="1673352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px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212080" y="1673352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Polygon / polyline vertices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112264"/>
            <a:ext cx="8412480" cy="438912"/>
          </a:xfrm>
          <a:prstGeom prst="rect">
            <a:avLst/>
          </a:prstGeom>
          <a:solidFill>
            <a:srgbClr val="EBF5FF"/>
          </a:solidFill>
          <a:ln w="6350">
            <a:solidFill>
              <a:srgbClr val="D1E9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112264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snap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017520" y="2112264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px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212080" y="2112264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Interior of edges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2551176"/>
            <a:ext cx="84124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1E9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551176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 snap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017520" y="2551176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px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212080" y="2551176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 ring vertices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2990088"/>
            <a:ext cx="8412480" cy="438912"/>
          </a:xfrm>
          <a:prstGeom prst="rect">
            <a:avLst/>
          </a:prstGeom>
          <a:solidFill>
            <a:srgbClr val="EBF5FF"/>
          </a:solidFill>
          <a:ln w="6350">
            <a:solidFill>
              <a:srgbClr val="D1E9F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990088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Midpoint snap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017520" y="2990088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px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212080" y="2990088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midpoints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65760" y="312724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snap — nearest point on segment: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65760" y="3520440"/>
            <a:ext cx="4114800" cy="566928"/>
          </a:xfrm>
          <a:prstGeom prst="rect">
            <a:avLst/>
          </a:prstGeom>
          <a:solidFill>
            <a:srgbClr val="E8F4FD"/>
          </a:solidFill>
          <a:ln w="9525">
            <a:solidFill>
              <a:srgbClr val="90E0E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520440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e* = a + t*(b−a),  t* = clamp((q−a)·(b−a)/|b−a|², 0, 1)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754880" y="312724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Per-phase snap target relation  𝒯 ⊆ Phase × Layer: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754880" y="3520440"/>
            <a:ext cx="41148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4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areas       → {areas}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4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districts   → {areas, districts}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4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roads       → {areas, cityCenter, roads}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4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publicBldgs → {areas, publicBldgs, publicSpaces}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01168"/>
            <a:ext cx="8595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Direction Algorithm — 5 Phases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8412480" cy="804672"/>
          </a:xfrm>
          <a:prstGeom prst="rect">
            <a:avLst/>
          </a:prstGeom>
          <a:solidFill>
            <a:srgbClr val="F4FBFF"/>
          </a:solidFill>
          <a:ln w="6350">
            <a:solidFill>
              <a:srgbClr val="D1E9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04672"/>
            <a:ext cx="502920" cy="80467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04672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1207008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1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Topology Graph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877824"/>
            <a:ext cx="7726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O(n²) scan: T-junctions (endpoint→body ≤ 30 m) and X-junctions (body-body intersect). Roads split into sub-segments; shared nodes at all junction points.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810512"/>
            <a:ext cx="8412480" cy="804672"/>
          </a:xfrm>
          <a:prstGeom prst="rect">
            <a:avLst/>
          </a:prstGeom>
          <a:solidFill>
            <a:srgbClr val="F4FBFF"/>
          </a:solidFill>
          <a:ln w="6350">
            <a:solidFill>
              <a:srgbClr val="D1E9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810512"/>
            <a:ext cx="502920" cy="8046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810512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5760" y="2212848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1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DFS Orientation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960120" y="1883664"/>
            <a:ext cx="7726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BFS/DFS from city-centre perimeter seeds (|d(v,c) − r| ≤ 30 m). Orient each segment: coords[0] = city-centre side. Propagates outward.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2816352"/>
            <a:ext cx="8412480" cy="804672"/>
          </a:xfrm>
          <a:prstGeom prst="rect">
            <a:avLst/>
          </a:prstGeom>
          <a:solidFill>
            <a:srgbClr val="F4FBFF"/>
          </a:solidFill>
          <a:ln w="6350">
            <a:solidFill>
              <a:srgbClr val="D1E9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816352"/>
            <a:ext cx="502920" cy="80467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816352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2b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5760" y="3218688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1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Fallback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960120" y="2889504"/>
            <a:ext cx="7726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city centre → orient by cardinal direction: N→S if |Δφ| ≥ |Δλ|, else E→W.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3822192"/>
            <a:ext cx="4114800" cy="960120"/>
          </a:xfrm>
          <a:prstGeom prst="rect">
            <a:avLst/>
          </a:prstGeom>
          <a:solidFill>
            <a:srgbClr val="F4FBFF"/>
          </a:solidFill>
          <a:ln w="6350">
            <a:solidFill>
              <a:srgbClr val="D1E9F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822192"/>
            <a:ext cx="502920" cy="960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822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Ph.3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65760" y="432511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D1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Majority Vote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960120" y="3867912"/>
            <a:ext cx="3429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Multi-segment roads: reversed = [ Σ reversed_segments &gt; k/2 ]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63440" y="3822192"/>
            <a:ext cx="4114800" cy="960120"/>
          </a:xfrm>
          <a:prstGeom prst="rect">
            <a:avLst/>
          </a:prstGeom>
          <a:solidFill>
            <a:srgbClr val="F4FBFF"/>
          </a:solidFill>
          <a:ln w="6350">
            <a:solidFill>
              <a:srgbClr val="D1E9F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63440" y="3822192"/>
            <a:ext cx="502920" cy="960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63440" y="3822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Ph.4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663440" y="432511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D1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Dead-End Correction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257800" y="3867912"/>
            <a:ext cx="3429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deg(v)=1 at endpoint → that end is the tip; connected side (deg&gt;1) becomes from-side, overriding vote.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01168"/>
            <a:ext cx="8595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Entrance Numbering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96112"/>
            <a:ext cx="594360" cy="59436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9611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7280" y="822960"/>
            <a:ext cx="7680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onto road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1225296"/>
            <a:ext cx="7680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Turf nearestPointOnLine → arc-length ℓ(e) for each unassigned entrance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9224" y="1490472"/>
            <a:ext cx="9144" cy="292608"/>
          </a:xfrm>
          <a:prstGeom prst="line">
            <a:avLst/>
          </a:prstGeom>
          <a:noFill/>
          <a:ln w="19050">
            <a:solidFill>
              <a:srgbClr val="90E0EF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365760" y="1856232"/>
            <a:ext cx="594360" cy="59436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85623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97280" y="1783080"/>
            <a:ext cx="7680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by arc-length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97280" y="2185416"/>
            <a:ext cx="7680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Ascending ℓ(e₁) ≤ ℓ(e₂) ≤ … ≤ ℓ(eₖ)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9224" y="2450592"/>
            <a:ext cx="9144" cy="292608"/>
          </a:xfrm>
          <a:prstGeom prst="line">
            <a:avLst/>
          </a:prstGeom>
          <a:noFill/>
          <a:ln w="19050">
            <a:solidFill>
              <a:srgbClr val="90E0EF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365760" y="2816352"/>
            <a:ext cx="594360" cy="59436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81635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97280" y="2743200"/>
            <a:ext cx="7680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counters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97280" y="3145536"/>
            <a:ext cx="7680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o₀ = max(existing odd on road) + 2    e₀ = max(existing even on road) + 2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9224" y="3410712"/>
            <a:ext cx="9144" cy="292608"/>
          </a:xfrm>
          <a:prstGeom prst="line">
            <a:avLst/>
          </a:prstGeom>
          <a:noFill/>
          <a:ln w="19050">
            <a:solidFill>
              <a:srgbClr val="90E0EF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365760" y="3776472"/>
            <a:ext cx="594360" cy="59436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77647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97280" y="3703320"/>
            <a:ext cx="7680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numbers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97280" y="4105656"/>
            <a:ext cx="7680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side → odd counter (o, o+2, o+4, …)   Right side → even (e, e+2, …)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4617720"/>
            <a:ext cx="8412480" cy="347472"/>
          </a:xfrm>
          <a:prstGeom prst="rect">
            <a:avLst/>
          </a:prstGeom>
          <a:solidFill>
            <a:srgbClr val="E8F4FD"/>
          </a:solidFill>
          <a:ln w="9525">
            <a:solidFill>
              <a:srgbClr val="90E0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6177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International convention: odd numbers one side, even the other, sequenced by arc-length from road origin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01168"/>
            <a:ext cx="8595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Scattered Area  &amp;  Point-in-Polygon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402336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D1E9F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04672"/>
            <a:ext cx="4023360" cy="4389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04672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Scattered Area  (auto-computed)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316736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 set-difference of commune boundary and all explicit urban areas: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1783080"/>
            <a:ext cx="3749040" cy="475488"/>
          </a:xfrm>
          <a:prstGeom prst="rect">
            <a:avLst/>
          </a:prstGeom>
          <a:solidFill>
            <a:srgbClr val="E8F4FD"/>
          </a:solidFill>
          <a:ln w="9525">
            <a:solidFill>
              <a:srgbClr val="90E0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783080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 =  B  \  U  =  B ∩ Uᶜ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2304288"/>
            <a:ext cx="374904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= commune boundary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 = union of central_urban + secondary_urban polygons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may be a MULTIPOLYGON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804672"/>
            <a:ext cx="402336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D1E9F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804672"/>
            <a:ext cx="4023360" cy="43891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804672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Ray-Casting Point-in-Polygon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92040" y="1316736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Even-odd rule — count edge crossings of rightward ray: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892040" y="1783080"/>
            <a:ext cx="3749040" cy="475488"/>
          </a:xfrm>
          <a:prstGeom prst="rect">
            <a:avLst/>
          </a:prstGeom>
          <a:solidFill>
            <a:srgbClr val="E8F4FD"/>
          </a:solidFill>
          <a:ln w="9525">
            <a:solidFill>
              <a:srgbClr val="90E0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83480" y="1783080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 ∈ P  iff  Σ crossings(eᵢ)  mod 2  =  1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892040" y="2304288"/>
            <a:ext cx="374904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 time · O(1) space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scattered areas with holes: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∈ S iff q ∈ outer ∧ q ∉ any hole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310128"/>
            <a:ext cx="841248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383280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trigger: 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560320" y="3383280"/>
            <a:ext cx="6035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area save / update / delete → BackgroundTaskQueue → ScatteredAreaService.RefreshAsync(userId, communeId) → ST_Difference(B, ST_Union(𝒜))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65760" y="41605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tests run client-side — no server round-trip required.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01168"/>
            <a:ext cx="8595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 Stack  &amp;  Client-Side Validation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4023360" cy="2880360"/>
          </a:xfrm>
          <a:prstGeom prst="rect">
            <a:avLst/>
          </a:prstGeom>
          <a:solidFill>
            <a:srgbClr val="FFFFFF"/>
          </a:solidFill>
          <a:ln w="6350">
            <a:solidFill>
              <a:srgbClr val="D1E9F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04672"/>
            <a:ext cx="4023360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04672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 Stack (delete-only)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280160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LIFO queue of (LayerEntry, phaseKey) tuples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Push: BEFORE delete dispatches to API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 (Ctrl+Z): re-POST to /api/save → new UUID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2212848"/>
            <a:ext cx="3749040" cy="548640"/>
          </a:xfrm>
          <a:prstGeom prst="rect">
            <a:avLst/>
          </a:prstGeom>
          <a:solidFill>
            <a:srgbClr val="FFF8E8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267712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id_new ≠ id_old — cross-references repaired: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∀ secondary entrance: mainEntranceDbId ← id_new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85292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browser memory only — cleared on page reload.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54880" y="804672"/>
            <a:ext cx="4023360" cy="2880360"/>
          </a:xfrm>
          <a:prstGeom prst="rect">
            <a:avLst/>
          </a:prstGeom>
          <a:solidFill>
            <a:srgbClr val="FFFFFF"/>
          </a:solidFill>
          <a:ln w="6350">
            <a:solidFill>
              <a:srgbClr val="D1E9F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804672"/>
            <a:ext cx="4023360" cy="41148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804672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Two-Stage Validation Pipeline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892040" y="1298448"/>
            <a:ext cx="685800" cy="347472"/>
          </a:xfrm>
          <a:prstGeom prst="rect">
            <a:avLst/>
          </a:prstGeom>
          <a:solidFill>
            <a:srgbClr val="90E0EF"/>
          </a:solidFill>
          <a:ln w="12700">
            <a:solidFill>
              <a:srgbClr val="90E0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1298448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669280" y="1298448"/>
            <a:ext cx="2971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Min road length ≥ 10 m (Turf.js)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669280" y="1627632"/>
            <a:ext cx="2971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Polygon ring closure (append p₀ if p₀ ≠ pₙ)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92040" y="2395728"/>
            <a:ext cx="68580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2395728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669280" y="2395728"/>
            <a:ext cx="2971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Angle ≤ 90° (dot product)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669280" y="2724912"/>
            <a:ext cx="2971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Connectivity 20 m (ST_DWithin)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669280" y="3054096"/>
            <a:ext cx="2971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Overlap / adjacency / coverage (PostGIS)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5760" y="3822192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4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 draws → client checks → API validate → API save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2011680"/>
            <a:ext cx="2743200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0" y="20116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14400" y="26060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Primitives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340156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9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· JWT / HMAC-SHA256 · Refresh Token Rotation · CSRF · Account Lockout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01168"/>
            <a:ext cx="8595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Hashing  &amp;  JWT Construction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40233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1E9F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04672"/>
            <a:ext cx="4023360" cy="411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04672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Password Storage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298448"/>
            <a:ext cx="3749040" cy="502920"/>
          </a:xfrm>
          <a:prstGeom prst="rect">
            <a:avLst/>
          </a:prstGeom>
          <a:solidFill>
            <a:srgbClr val="E8F4FD"/>
          </a:solidFill>
          <a:ln w="9525">
            <a:solidFill>
              <a:srgbClr val="90E0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298448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H_pwd = bcrypt(π, s, cost=11)  →  2¹¹ = 2048 iterations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02920" y="1865376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Salt: 128-bit random  ·  Output: 60-char string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D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Comparison: BCrypt.Verify() in constant time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D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Algorithm: Blowfish key schedule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54880" y="804672"/>
            <a:ext cx="40233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1E9F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804672"/>
            <a:ext cx="4023360" cy="41148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804672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— HMAC-SHA256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92040" y="1298448"/>
            <a:ext cx="3749040" cy="502920"/>
          </a:xfrm>
          <a:prstGeom prst="rect">
            <a:avLst/>
          </a:prstGeom>
          <a:solidFill>
            <a:srgbClr val="E8F4FD"/>
          </a:solidFill>
          <a:ln w="9525">
            <a:solidFill>
              <a:srgbClr val="90E0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83480" y="1298448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JWT = B64url(h) . B64url(c) . B64url(HMAC-SHA256(k, h.c))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892040" y="1865376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 UTF-8 secret ≥ 32 chars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Lifetime: T_access = 1440 min (24 h, configurable)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Claims: user_id, username, name, email, commune_id, exp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Delivery: HttpOnly cookie only (never localStorage)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743200"/>
            <a:ext cx="841248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1E9F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743200"/>
            <a:ext cx="8412480" cy="4114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74320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Token Rotation Protocol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02920" y="3218688"/>
            <a:ext cx="3749040" cy="438912"/>
          </a:xfrm>
          <a:prstGeom prst="rect">
            <a:avLst/>
          </a:prstGeom>
          <a:solidFill>
            <a:srgbClr val="E8F4FD"/>
          </a:solidFill>
          <a:ln w="9525">
            <a:solidFill>
              <a:srgbClr val="90E0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218688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ρ ←$ {0,1}⁵¹²,   H_ρ = SHA-256(ρ)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343400" y="3227832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stores H_ρ  ·  Client stores ρ (HttpOnly cookie)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D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refresh: SELECT … FOR UPDATE SKIP LOCKED → revoke old → issue new (ρ', H_ρ')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D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of revoked token → 401 (refresh token rotation — RTR)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01168"/>
            <a:ext cx="8595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CSRF · Account Lockout · Rate Limiting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40233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1E9F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85039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CSRF (Double-Submit Cookie)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234440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server-rendered forms (login.html only).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D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routes exempt — SameSite=Lax blocks cross-origin POST.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D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Validation: F(cookie[X-CSRF-TOKEN-COOKIE]) = header[X-CSRF-Token]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754880" y="804672"/>
            <a:ext cx="40233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1E9F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92040" y="85039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Lockout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92040" y="1234440"/>
            <a:ext cx="3749040" cy="475488"/>
          </a:xfrm>
          <a:prstGeom prst="rect">
            <a:avLst/>
          </a:prstGeom>
          <a:solidFill>
            <a:srgbClr val="E8F4FD"/>
          </a:solidFill>
          <a:ln w="9525">
            <a:solidFill>
              <a:srgbClr val="90E0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83480" y="1234440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LockedUntil = t_now + 30 min   if F ≥ F_max = 5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892040" y="173736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 login → reset (F ← 0, LockedUntil ← null)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65760" y="2395728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Sliding-Window Rate Limiter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029200" y="2395728"/>
            <a:ext cx="3749040" cy="384048"/>
          </a:xfrm>
          <a:prstGeom prst="rect">
            <a:avLst/>
          </a:prstGeom>
          <a:solidFill>
            <a:srgbClr val="E8F4FD"/>
          </a:solidFill>
          <a:ln w="9525">
            <a:solidFill>
              <a:srgbClr val="90E0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20640" y="239572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Σᵢ c(t − iW/S, t − (i+1)W/S)  &lt;  P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2907792"/>
            <a:ext cx="8412480" cy="38404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0624" y="2907792"/>
            <a:ext cx="9509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426464" y="2907792"/>
            <a:ext cx="10424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(permits)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523744" y="2907792"/>
            <a:ext cx="9509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529584" y="2907792"/>
            <a:ext cx="9509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35424" y="2907792"/>
            <a:ext cx="42428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3291840"/>
            <a:ext cx="84124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1E9F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0624" y="3291840"/>
            <a:ext cx="9509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426464" y="3291840"/>
            <a:ext cx="10424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523744" y="3291840"/>
            <a:ext cx="9509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529584" y="3291840"/>
            <a:ext cx="9509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35424" y="3291840"/>
            <a:ext cx="42428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/signin · /signup · /refresh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675888"/>
            <a:ext cx="8412480" cy="384048"/>
          </a:xfrm>
          <a:prstGeom prst="rect">
            <a:avLst/>
          </a:prstGeom>
          <a:solidFill>
            <a:srgbClr val="EBF5FF"/>
          </a:solidFill>
          <a:ln w="6350">
            <a:solidFill>
              <a:srgbClr val="D1E9F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0624" y="3675888"/>
            <a:ext cx="9509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426464" y="3675888"/>
            <a:ext cx="10424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523744" y="3675888"/>
            <a:ext cx="9509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529584" y="3675888"/>
            <a:ext cx="9509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35424" y="3675888"/>
            <a:ext cx="42428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/api/clear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65760" y="4059936"/>
            <a:ext cx="84124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1E9F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20624" y="4059936"/>
            <a:ext cx="9509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426464" y="4059936"/>
            <a:ext cx="10424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523744" y="4059936"/>
            <a:ext cx="9509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529584" y="4059936"/>
            <a:ext cx="9509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535424" y="4059936"/>
            <a:ext cx="42428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other authenticated endpoints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65760" y="461772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replenishment rate: r = P / W  requests / second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01168"/>
            <a:ext cx="8595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Surface  &amp;  Database Schema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192024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D1E9F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896112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365760" y="158191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23160" y="804672"/>
            <a:ext cx="192024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D1E9F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23160" y="896112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2423160" y="158191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Tables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80560" y="804672"/>
            <a:ext cx="192024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D1E9F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480560" y="896112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4480560" y="158191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Types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537960" y="804672"/>
            <a:ext cx="192024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D1E9F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537960" y="896112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6537960" y="158191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Policies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176272"/>
            <a:ext cx="1097280" cy="4937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176272"/>
            <a:ext cx="1097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554480" y="2176272"/>
            <a:ext cx="72237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4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/api/signin  ·  /signup  ·  /logout  ·  /refresh  ·  GET /api/current_user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65760" y="2816352"/>
            <a:ext cx="1097280" cy="493776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816352"/>
            <a:ext cx="1097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554480" y="2816352"/>
            <a:ext cx="72237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4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/api/save  ·  GET /api/load  ·  PUT /api/update/:id  ·  DELETE /api/delete/:id  ·  POST /api/clear  ·  GET /api/stats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65760" y="3456432"/>
            <a:ext cx="1097280" cy="49377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097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554480" y="3456432"/>
            <a:ext cx="72237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4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/api/validate/area/main-urban-exists  ·  POST /api/validate/road  ·  POST /api/validate/district  ·  GET /api/validate/districts/coverage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65760" y="4096512"/>
            <a:ext cx="1097280" cy="4937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4096512"/>
            <a:ext cx="1097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Auxiliary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554480" y="4096512"/>
            <a:ext cx="72237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4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/api/locations  ·  GET /api/spatial/commune-boundary  ·  GET /api/scattered-status  ·  GET /health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365760" y="4681728"/>
            <a:ext cx="8412480" cy="34747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690872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UUID v7 PKs: 48-bit ms timestamp (monotonic) | 4-bit version | 12-bit sequence | 62-bit random  →  ORDER BY id ≡ ORDER BY created_at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01168"/>
            <a:ext cx="8595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Type Taxonomy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8595360" cy="48463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804672"/>
            <a:ext cx="1298448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key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719072" y="804672"/>
            <a:ext cx="1572768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364992" y="804672"/>
            <a:ext cx="4315968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54112" y="804672"/>
            <a:ext cx="1115568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289304"/>
            <a:ext cx="859536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D1E9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1289304"/>
            <a:ext cx="1298448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4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area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719072" y="1289304"/>
            <a:ext cx="1572768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364992" y="1289304"/>
            <a:ext cx="4315968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central_urban · secondary_urban · scattered*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754112" y="1289304"/>
            <a:ext cx="1115568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Polygon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74320" y="1773936"/>
            <a:ext cx="8595360" cy="484632"/>
          </a:xfrm>
          <a:prstGeom prst="rect">
            <a:avLst/>
          </a:prstGeom>
          <a:solidFill>
            <a:srgbClr val="EBF5FF"/>
          </a:solidFill>
          <a:ln w="6350">
            <a:solidFill>
              <a:srgbClr val="D1E9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" y="1773936"/>
            <a:ext cx="1298448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4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district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719072" y="1773936"/>
            <a:ext cx="1572768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364992" y="1773936"/>
            <a:ext cx="4315968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 · housing_estate · urban_pole · trad_activities_zone · industry_zone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754112" y="1773936"/>
            <a:ext cx="1115568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Polygon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74320" y="2258568"/>
            <a:ext cx="859536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D1E9F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" y="2258568"/>
            <a:ext cx="1298448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4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city_center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719072" y="2258568"/>
            <a:ext cx="1572768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city_centers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364992" y="2258568"/>
            <a:ext cx="4315968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city_center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754112" y="2258568"/>
            <a:ext cx="1115568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+ radius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274320" y="2743200"/>
            <a:ext cx="8595360" cy="484632"/>
          </a:xfrm>
          <a:prstGeom prst="rect">
            <a:avLst/>
          </a:prstGeom>
          <a:solidFill>
            <a:srgbClr val="EBF5FF"/>
          </a:solidFill>
          <a:ln w="6350">
            <a:solidFill>
              <a:srgbClr val="D1E9F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" y="2743200"/>
            <a:ext cx="1298448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4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road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719072" y="2743200"/>
            <a:ext cx="1572768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364992" y="2743200"/>
            <a:ext cx="4315968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boulevard · avenue · street · drive · lane · cul_de_sac · way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754112" y="2743200"/>
            <a:ext cx="1115568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LineString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74320" y="3227832"/>
            <a:ext cx="859536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D1E9F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" y="3227832"/>
            <a:ext cx="1298448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4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house_entrance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1719072" y="3227832"/>
            <a:ext cx="1572768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house_entrances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364992" y="3227832"/>
            <a:ext cx="4315968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main_entrance · secondary_entrance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7754112" y="3227832"/>
            <a:ext cx="1115568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274320" y="3712464"/>
            <a:ext cx="8595360" cy="484632"/>
          </a:xfrm>
          <a:prstGeom prst="rect">
            <a:avLst/>
          </a:prstGeom>
          <a:solidFill>
            <a:srgbClr val="EBF5FF"/>
          </a:solidFill>
          <a:ln w="6350">
            <a:solidFill>
              <a:srgbClr val="D1E9F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7472" y="3712464"/>
            <a:ext cx="1298448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4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public_building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1719072" y="3712464"/>
            <a:ext cx="1572768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public_buildings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3364992" y="3712464"/>
            <a:ext cx="4315968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public_building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7754112" y="3712464"/>
            <a:ext cx="1115568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274320" y="4197096"/>
            <a:ext cx="859536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D1E9F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7472" y="4197096"/>
            <a:ext cx="1298448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4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public_space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1719072" y="4197096"/>
            <a:ext cx="1572768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public_spaces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3364992" y="4197096"/>
            <a:ext cx="4315968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garden · square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7754112" y="4197096"/>
            <a:ext cx="1115568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Polygon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274320" y="4681728"/>
            <a:ext cx="8595360" cy="484632"/>
          </a:xfrm>
          <a:prstGeom prst="rect">
            <a:avLst/>
          </a:prstGeom>
          <a:solidFill>
            <a:srgbClr val="EBF5FF"/>
          </a:solidFill>
          <a:ln w="6350">
            <a:solidFill>
              <a:srgbClr val="D1E9F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47472" y="4681728"/>
            <a:ext cx="1298448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4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naming_panel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1719072" y="4681728"/>
            <a:ext cx="1572768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naming_panels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3364992" y="4681728"/>
            <a:ext cx="4315968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naming_panel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7754112" y="4681728"/>
            <a:ext cx="1115568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365760" y="475488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scattered is auto-computed; cannot be saved manually.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01168"/>
            <a:ext cx="8595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2743200" cy="41148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0467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1480" y="1298448"/>
            <a:ext cx="2651760" cy="512064"/>
          </a:xfrm>
          <a:prstGeom prst="rect">
            <a:avLst/>
          </a:prstGeom>
          <a:solidFill>
            <a:srgbClr val="EBF5FF"/>
          </a:solidFill>
          <a:ln w="6350">
            <a:solidFill>
              <a:srgbClr val="D1E9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298448"/>
            <a:ext cx="254203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10 / ASP.NET Core 10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11480" y="1901952"/>
            <a:ext cx="2651760" cy="512064"/>
          </a:xfrm>
          <a:prstGeom prst="rect">
            <a:avLst/>
          </a:prstGeom>
          <a:solidFill>
            <a:srgbClr val="EBF5FF"/>
          </a:solidFill>
          <a:ln w="6350">
            <a:solidFill>
              <a:srgbClr val="D1E9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901952"/>
            <a:ext cx="254203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Framework Core + ADO.NET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11480" y="2505456"/>
            <a:ext cx="2651760" cy="512064"/>
          </a:xfrm>
          <a:prstGeom prst="rect">
            <a:avLst/>
          </a:prstGeom>
          <a:solidFill>
            <a:srgbClr val="EBF5FF"/>
          </a:solidFill>
          <a:ln w="6350">
            <a:solidFill>
              <a:srgbClr val="D1E9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2505456"/>
            <a:ext cx="254203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15 + PostGIS 3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11480" y="3108960"/>
            <a:ext cx="2651760" cy="512064"/>
          </a:xfrm>
          <a:prstGeom prst="rect">
            <a:avLst/>
          </a:prstGeom>
          <a:solidFill>
            <a:srgbClr val="EBF5FF"/>
          </a:solidFill>
          <a:ln w="6350">
            <a:solidFill>
              <a:srgbClr val="D1E9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3108960"/>
            <a:ext cx="254203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BCrypt.Net-Next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11480" y="3712464"/>
            <a:ext cx="2651760" cy="512064"/>
          </a:xfrm>
          <a:prstGeom prst="rect">
            <a:avLst/>
          </a:prstGeom>
          <a:solidFill>
            <a:srgbClr val="EBF5FF"/>
          </a:solidFill>
          <a:ln w="6350">
            <a:solidFill>
              <a:srgbClr val="D1E9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3712464"/>
            <a:ext cx="254203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System.IdentityModel.Tokens.Jwt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291840" y="804672"/>
            <a:ext cx="2743200" cy="4114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91840" y="80467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337560" y="1298448"/>
            <a:ext cx="2651760" cy="512064"/>
          </a:xfrm>
          <a:prstGeom prst="rect">
            <a:avLst/>
          </a:prstGeom>
          <a:solidFill>
            <a:srgbClr val="EBF5FF"/>
          </a:solidFill>
          <a:ln w="6350">
            <a:solidFill>
              <a:srgbClr val="D1E9F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01568" y="1298448"/>
            <a:ext cx="254203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3 (Composition API)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337560" y="1901952"/>
            <a:ext cx="2651760" cy="512064"/>
          </a:xfrm>
          <a:prstGeom prst="rect">
            <a:avLst/>
          </a:prstGeom>
          <a:solidFill>
            <a:srgbClr val="EBF5FF"/>
          </a:solidFill>
          <a:ln w="6350">
            <a:solidFill>
              <a:srgbClr val="D1E9F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01568" y="1901952"/>
            <a:ext cx="254203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Pinia 3  ·  vue-i18n 11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337560" y="2505456"/>
            <a:ext cx="2651760" cy="512064"/>
          </a:xfrm>
          <a:prstGeom prst="rect">
            <a:avLst/>
          </a:prstGeom>
          <a:solidFill>
            <a:srgbClr val="EBF5FF"/>
          </a:solidFill>
          <a:ln w="6350">
            <a:solidFill>
              <a:srgbClr val="D1E9F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01568" y="2505456"/>
            <a:ext cx="254203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MapLibre GL JS 5  ·  Geoman 0.7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337560" y="3108960"/>
            <a:ext cx="2651760" cy="512064"/>
          </a:xfrm>
          <a:prstGeom prst="rect">
            <a:avLst/>
          </a:prstGeom>
          <a:solidFill>
            <a:srgbClr val="EBF5FF"/>
          </a:solidFill>
          <a:ln w="6350">
            <a:solidFill>
              <a:srgbClr val="D1E9F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01568" y="3108960"/>
            <a:ext cx="254203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Turf.js 7  ·  DOMPurify 3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337560" y="3712464"/>
            <a:ext cx="2651760" cy="512064"/>
          </a:xfrm>
          <a:prstGeom prst="rect">
            <a:avLst/>
          </a:prstGeom>
          <a:solidFill>
            <a:srgbClr val="EBF5FF"/>
          </a:solidFill>
          <a:ln w="6350">
            <a:solidFill>
              <a:srgbClr val="D1E9F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01568" y="3712464"/>
            <a:ext cx="254203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8  ·  vue-tsc 3  ·  TypeScript 6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217920" y="804672"/>
            <a:ext cx="2743200" cy="411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0" y="80467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Tooling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263640" y="1298448"/>
            <a:ext cx="2651760" cy="512064"/>
          </a:xfrm>
          <a:prstGeom prst="rect">
            <a:avLst/>
          </a:prstGeom>
          <a:solidFill>
            <a:srgbClr val="EBF5FF"/>
          </a:solidFill>
          <a:ln w="6350">
            <a:solidFill>
              <a:srgbClr val="D1E9F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27648" y="1298448"/>
            <a:ext cx="254203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ESLint 10 + @typescript-eslint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263640" y="1901952"/>
            <a:ext cx="2651760" cy="512064"/>
          </a:xfrm>
          <a:prstGeom prst="rect">
            <a:avLst/>
          </a:prstGeom>
          <a:solidFill>
            <a:srgbClr val="EBF5FF"/>
          </a:solidFill>
          <a:ln w="6350">
            <a:solidFill>
              <a:srgbClr val="D1E9F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27648" y="1901952"/>
            <a:ext cx="254203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Prettier 3  ·  Vitest 4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263640" y="2505456"/>
            <a:ext cx="2651760" cy="512064"/>
          </a:xfrm>
          <a:prstGeom prst="rect">
            <a:avLst/>
          </a:prstGeom>
          <a:solidFill>
            <a:srgbClr val="EBF5FF"/>
          </a:solidFill>
          <a:ln w="6350">
            <a:solidFill>
              <a:srgbClr val="D1E9F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27648" y="2505456"/>
            <a:ext cx="254203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/ dotnet CLI / pptxgenjs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6263640" y="3108960"/>
            <a:ext cx="2651760" cy="512064"/>
          </a:xfrm>
          <a:prstGeom prst="rect">
            <a:avLst/>
          </a:prstGeom>
          <a:solidFill>
            <a:srgbClr val="EBF5FF"/>
          </a:solidFill>
          <a:ln w="6350">
            <a:solidFill>
              <a:srgbClr val="D1E9F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27648" y="3108960"/>
            <a:ext cx="254203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LaTeX (documentation)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263640" y="3712464"/>
            <a:ext cx="2651760" cy="512064"/>
          </a:xfrm>
          <a:prstGeom prst="rect">
            <a:avLst/>
          </a:prstGeom>
          <a:solidFill>
            <a:srgbClr val="EBF5FF"/>
          </a:solidFill>
          <a:ln w="6350">
            <a:solidFill>
              <a:srgbClr val="D1E9F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27648" y="3712464"/>
            <a:ext cx="254203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pgAdmin / PostGIS Viewer</a:t>
            </a:r>
            <a:endParaRPr lang="en-US" sz="11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0"/>
            <a:ext cx="109728" cy="51435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274320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Results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77240" y="1033272"/>
            <a:ext cx="502920" cy="5029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0332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🗺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98755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Geodetic precision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71600" y="1353312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Spherical direct problem for circle vertices; Haversine for all metric distances.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937760" y="1033272"/>
            <a:ext cx="502920" cy="5029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0332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✔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532120" y="98755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validity guaranteed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532120" y="1353312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deviation ≤ 90° + connectivity within 20 m — both checked server-side.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77240" y="2221992"/>
            <a:ext cx="502920" cy="5029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22219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🏘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71600" y="217627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 tiling theorem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371600" y="2542032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Non-overlap + adjacency + 10 m-tolerance coverage = valid topological partition.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937760" y="2221992"/>
            <a:ext cx="502920" cy="5029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22219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🔑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532120" y="217627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by design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532120" y="2542032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RTR refresh tokens, BCrypt/JWT, SameSite=Lax CSRF defence, sliding-window rate limits.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77240" y="3410712"/>
            <a:ext cx="502920" cy="5029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34107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🔢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371600" y="336499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house numbers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371600" y="3730752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Arc-length projection + odd/even assignment → no duplicates, gaps are preserved.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937760" y="3410712"/>
            <a:ext cx="502920" cy="5029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34107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⚡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532120" y="336499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532120" y="3730752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fast checks + two-stage API validation. PiP O(n) with no server round-trip.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777240" y="46451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work: migrate coordinates to native PostGIS geometry columns → spatial indexing, ~40% storage reduction.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NARS: Mathematical Foundations</dc:title>
  <dc:subject>National Addressing Reference System</dc:subject>
  <dc:creator>NARS Engineering</dc:creator>
  <cp:lastModifiedBy>NARS Engineering</cp:lastModifiedBy>
  <cp:revision>1</cp:revision>
  <dcterms:created xsi:type="dcterms:W3CDTF">2026-04-20T06:47:53Z</dcterms:created>
  <dcterms:modified xsi:type="dcterms:W3CDTF">2026-04-20T06:47:53Z</dcterms:modified>
</cp:coreProperties>
</file>